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978408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375E"/>
                </a:solidFill>
              </a:rPr>
              <a:t>ConnectWise  Keka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04288"/>
            <a:ext cx="9601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275C9E"/>
                </a:solidFill>
              </a:rPr>
              <a:t>Project Planning &amp; Status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7F20"/>
                </a:solidFill>
              </a:rPr>
              <a:t>* *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3375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7777"/>
                </a:solidFill>
              </a:rPr>
              <a:t>As of June 10,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82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</a:rPr>
              <a:t>OculusIT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434840"/>
            <a:ext cx="3017520" cy="1691640"/>
          </a:xfrm>
          <a:prstGeom prst="roundRect">
            <a:avLst>
              <a:gd name="adj" fmla="val 4000"/>
            </a:avLst>
          </a:prstGeom>
          <a:solidFill>
            <a:srgbClr val="FCE8E6"/>
          </a:solidFill>
          <a:ln w="127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4434840"/>
            <a:ext cx="3017520" cy="347472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4453128"/>
            <a:ext cx="2944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RISK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4846320"/>
            <a:ext cx="27980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221F"/>
                </a:solidFill>
              </a:rPr>
              <a:t>Keka API dependencies must
be enabled by June 12th.
Delay = Project release at RISK.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80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</a:rPr>
              <a:t>June 10,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49808"/>
            <a:ext cx="11567160" cy="658368"/>
          </a:xfrm>
          <a:prstGeom prst="roundRect">
            <a:avLst>
              <a:gd name="adj" fmla="val 4000"/>
            </a:avLst>
          </a:prstGeom>
          <a:solidFill>
            <a:srgbClr val="FEF7E0"/>
          </a:solidFill>
          <a:ln w="12700">
            <a:solidFill>
              <a:srgbClr val="F9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749808"/>
            <a:ext cx="109728" cy="658368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5000"/>
                </a:solidFill>
              </a:rPr>
              <a:t>Overall Project Health:  AMBER  —  On track technically; external API dependency creates release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54480"/>
            <a:ext cx="27432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2743200" cy="91440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5C9E"/>
                </a:solidFill>
              </a:rPr>
              <a:t>4 of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6032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Phases
Completed /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554480"/>
            <a:ext cx="27432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554480"/>
            <a:ext cx="2743200" cy="914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173736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75E"/>
                </a:solidFill>
              </a:rPr>
              <a:t>June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56032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Target
Release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1554480"/>
            <a:ext cx="27432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7336" y="1554480"/>
            <a:ext cx="2743200" cy="9144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173736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5221F"/>
                </a:solidFill>
              </a:rPr>
              <a:t>June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256032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Critical
API Deadline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1554480"/>
            <a:ext cx="27432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1554480"/>
            <a:ext cx="2743200" cy="9144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5984" y="1737360"/>
            <a:ext cx="2743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8E3E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56032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Open
Blockers (tech)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56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Key Highlights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931920"/>
            <a:ext cx="115671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931920"/>
            <a:ext cx="109728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98678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Development is on track — all technical activities completed through this week.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471416"/>
            <a:ext cx="115671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471416"/>
            <a:ext cx="109728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526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Phase 1 (PSA Sync) and Phase 2 (Timesheet Sync) implementations are complete.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010912"/>
            <a:ext cx="115671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010912"/>
            <a:ext cx="109728" cy="475488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6577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Some Keka API fields required for this release are not yet exposed by Keka.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550408"/>
            <a:ext cx="115671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550408"/>
            <a:ext cx="109728" cy="475488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60527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If Keka API dependencies are not enabled by June 12th, the June 30th release is at RISK.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6089904"/>
            <a:ext cx="115671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6089904"/>
            <a:ext cx="109728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1447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Failure / negative use cases for Phase 1 are fully addressed.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Phase Status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80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</a:rPr>
              <a:t>June 10,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420624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804671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4567" y="749808"/>
            <a:ext cx="137160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5" y="804671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4455" y="749808"/>
            <a:ext cx="123444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3" y="80467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Target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3" y="749808"/>
            <a:ext cx="4754880" cy="4114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1" y="804671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234440"/>
            <a:ext cx="42062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44567" y="1234440"/>
            <a:ext cx="13716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34455" y="1234440"/>
            <a:ext cx="12344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87183" y="1234440"/>
            <a:ext cx="475488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1325880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Foundation / Discovery Phase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7" y="1467612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14859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0175" y="14538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May 11,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3" y="1325880"/>
            <a:ext cx="459028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All observations tracked and planned into Implementation Phase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234440"/>
            <a:ext cx="64008" cy="7589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020824"/>
            <a:ext cx="420624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44567" y="2020824"/>
            <a:ext cx="137160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34455" y="2020824"/>
            <a:ext cx="123444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7183" y="2020824"/>
            <a:ext cx="475488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2112264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Implementation Phase 1
PSA Synchronization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6007" y="225399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7" y="22722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0175" y="224028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May 15,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3" y="2112264"/>
            <a:ext cx="459028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Some fields not yet exposed by Keka API — noted as dependency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020824"/>
            <a:ext cx="64008" cy="7589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807208"/>
            <a:ext cx="42062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44567" y="2807208"/>
            <a:ext cx="13716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455" y="2807208"/>
            <a:ext cx="12344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87183" y="2807208"/>
            <a:ext cx="475488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2898648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Implementation Phase 2
Timesheet Synchronization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36007" y="3040380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6007" y="30586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175" y="302666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June 5,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3" y="2898648"/>
            <a:ext cx="459028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Majority of functionality complete; placeholders added for API gaps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807208"/>
            <a:ext cx="64008" cy="7589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593592"/>
            <a:ext cx="420624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44567" y="3593592"/>
            <a:ext cx="137160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34455" y="3593592"/>
            <a:ext cx="123444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87183" y="3593592"/>
            <a:ext cx="475488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3685032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Fix Dependencies &amp; Bugs
(Phase 1 &amp; Phase 2)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36007" y="3826764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8EAED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6007" y="38450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</a:rPr>
              <a:t>Not Started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0175" y="381304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June 18,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8623" y="3685032"/>
            <a:ext cx="459028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Projects, Timesheets, Companies — pending Keka API enablement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593592"/>
            <a:ext cx="64008" cy="75895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4379976"/>
            <a:ext cx="42062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44567" y="4379976"/>
            <a:ext cx="13716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34455" y="4379976"/>
            <a:ext cx="12344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87183" y="4379976"/>
            <a:ext cx="475488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" y="4471416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Technical — Negative / Failure
Use Cases (Phase 1)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36007" y="4613148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36007" y="46314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0175" y="459943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June 1,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78623" y="4471416"/>
            <a:ext cx="459028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Completed through Phase 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379976"/>
            <a:ext cx="64008" cy="7589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5166360"/>
            <a:ext cx="420624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44567" y="5166360"/>
            <a:ext cx="137160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34455" y="5166360"/>
            <a:ext cx="123444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87183" y="5166360"/>
            <a:ext cx="4754880" cy="7589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768" y="5257800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Release Phase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36007" y="5399532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8EAED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36007" y="54178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</a:rPr>
              <a:t>Not Started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80175" y="538581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June 30,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78623" y="5257800"/>
            <a:ext cx="4590288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</a:rPr>
              <a:t>E2E testing, QA Sign-Off, UAT Sign-Off, Production Release &amp; Support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166360"/>
            <a:ext cx="64008" cy="75895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280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</a:rPr>
              <a:t>May —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749808"/>
            <a:ext cx="4133087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786384"/>
            <a:ext cx="4105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749808"/>
            <a:ext cx="4133087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786384"/>
            <a:ext cx="4105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133856"/>
            <a:ext cx="1021842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6290" y="1133856"/>
            <a:ext cx="102184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6290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6420" y="1133856"/>
            <a:ext cx="1021842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6420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86550" y="1133856"/>
            <a:ext cx="102184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6550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1133856"/>
            <a:ext cx="1021842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66810" y="1133856"/>
            <a:ext cx="102184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6810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06940" y="1133856"/>
            <a:ext cx="1021842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6940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47069" y="1133856"/>
            <a:ext cx="102184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47069" y="1170432"/>
            <a:ext cx="100355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</a:rPr>
              <a:t>W4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Apr28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6290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May4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6420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May11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6550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May18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May25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6810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Jun1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6940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Jun8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47069" y="1444752"/>
            <a:ext cx="10401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Jun15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1700784"/>
            <a:ext cx="115671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1737360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5E"/>
                </a:solidFill>
              </a:rPr>
              <a:t>Foundation / Discovery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2736" y="1764792"/>
            <a:ext cx="2007107" cy="365760"/>
          </a:xfrm>
          <a:prstGeom prst="roundRect">
            <a:avLst>
              <a:gd name="adj" fmla="val 4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66744" y="1801368"/>
            <a:ext cx="19156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Done May 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212848"/>
            <a:ext cx="11567160" cy="493776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2249424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5E"/>
                </a:solidFill>
              </a:rPr>
              <a:t>Impl Phase 1 - PSA 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82996" y="2276856"/>
            <a:ext cx="966977" cy="365760"/>
          </a:xfrm>
          <a:prstGeom prst="roundRect">
            <a:avLst>
              <a:gd name="adj" fmla="val 4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7004" y="2313432"/>
            <a:ext cx="87553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Done May 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724912"/>
            <a:ext cx="115671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2761488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5E"/>
                </a:solidFill>
              </a:rPr>
              <a:t>Impl Phase 2 - Timesheet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82996" y="2788920"/>
            <a:ext cx="3047237" cy="365760"/>
          </a:xfrm>
          <a:prstGeom prst="roundRect">
            <a:avLst>
              <a:gd name="adj" fmla="val 4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7004" y="2825496"/>
            <a:ext cx="295579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Done Jun 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236976"/>
            <a:ext cx="11567160" cy="493776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3273552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5E"/>
                </a:solidFill>
              </a:rPr>
              <a:t>Negative/Failure Cases P1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82996" y="3300984"/>
            <a:ext cx="2007107" cy="365760"/>
          </a:xfrm>
          <a:prstGeom prst="roundRect">
            <a:avLst>
              <a:gd name="adj" fmla="val 4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47004" y="3337560"/>
            <a:ext cx="19156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Done Jun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749040"/>
            <a:ext cx="115671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3785616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5E"/>
                </a:solidFill>
              </a:rPr>
              <a:t>Fix Dependencies &amp; Bugs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03386" y="3813048"/>
            <a:ext cx="2007107" cy="365760"/>
          </a:xfrm>
          <a:prstGeom prst="roundRect">
            <a:avLst>
              <a:gd name="adj" fmla="val 4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7394" y="3849624"/>
            <a:ext cx="19156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</a:rPr>
              <a:t>Target Jun 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261104"/>
            <a:ext cx="11567160" cy="493776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297680"/>
            <a:ext cx="3145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75E"/>
                </a:solidFill>
              </a:rPr>
              <a:t>Release Phase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03386" y="4325112"/>
            <a:ext cx="3047237" cy="365760"/>
          </a:xfrm>
          <a:prstGeom prst="roundRect">
            <a:avLst>
              <a:gd name="adj" fmla="val 4000"/>
            </a:avLst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7394" y="4361688"/>
            <a:ext cx="295579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</a:rPr>
              <a:t>Target Jun 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73159" y="749808"/>
            <a:ext cx="27432" cy="4151376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6835" y="48828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7F20"/>
                </a:solidFill>
              </a:rPr>
              <a:t>Today
Jun 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85197" y="749808"/>
            <a:ext cx="27432" cy="4151376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51441" y="4882896"/>
            <a:ext cx="777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5221F"/>
                </a:solidFill>
              </a:rPr>
              <a:t>API
Deadline
Jun 12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" y="5468112"/>
            <a:ext cx="1156716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0" y="5541264"/>
            <a:ext cx="256032" cy="20116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" y="55229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Completed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29000" y="5541264"/>
            <a:ext cx="256032" cy="201168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39" y="55229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Not Started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59" y="5541264"/>
            <a:ext cx="256032" cy="20116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9399" y="55229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Today (Jun 10)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19" y="5541264"/>
            <a:ext cx="256032" cy="201168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09759" y="55229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API Deadline (Jun 12)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Risk &amp; Dependency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11567160" cy="658368"/>
          </a:xfrm>
          <a:prstGeom prst="roundRect">
            <a:avLst>
              <a:gd name="adj" fmla="val 4000"/>
            </a:avLst>
          </a:prstGeom>
          <a:solidFill>
            <a:srgbClr val="FCE8E6"/>
          </a:solidFill>
          <a:ln w="127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109728" cy="658368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221F"/>
                </a:solidFill>
              </a:rPr>
              <a:t>RISK:  Keka API dependencies not enabled by June 12th will delay the June 30th production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508760"/>
            <a:ext cx="557784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577840" cy="4572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Risk 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084831"/>
            <a:ext cx="5440680" cy="475488"/>
          </a:xfrm>
          <a:prstGeom prst="rect">
            <a:avLst/>
          </a:prstGeom>
          <a:solidFill>
            <a:srgbClr val="F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57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Risk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579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596896"/>
            <a:ext cx="5440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700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Risk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6700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Keka Platform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108960"/>
            <a:ext cx="5440680" cy="475488"/>
          </a:xfrm>
          <a:prstGeom prst="rect">
            <a:avLst/>
          </a:prstGeom>
          <a:solidFill>
            <a:srgbClr val="F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821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182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June 12,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621024"/>
            <a:ext cx="5440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941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94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Phase fix &amp; Release phases blocked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4133087"/>
            <a:ext cx="5440680" cy="475488"/>
          </a:xfrm>
          <a:prstGeom prst="rect">
            <a:avLst/>
          </a:prstGeom>
          <a:solidFill>
            <a:srgbClr val="F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06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High — API not confirmed yet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645152"/>
            <a:ext cx="5440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183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Severity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718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High — affects June 30 go-live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5157216"/>
            <a:ext cx="5440680" cy="475488"/>
          </a:xfrm>
          <a:prstGeom prst="rect">
            <a:avLst/>
          </a:prstGeom>
          <a:solidFill>
            <a:srgbClr val="FD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2303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Current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230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Open / Awaiting Keka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508760"/>
            <a:ext cx="557784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508760"/>
            <a:ext cx="557784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5453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Mitigation Plan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2084831"/>
            <a:ext cx="5431536" cy="1005840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08192" y="2084831"/>
            <a:ext cx="91440" cy="100584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21396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F20"/>
                </a:solidFill>
              </a:rPr>
              <a:t>Immediate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2505456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Escalate to Keka account manager — request written confirmation of June 12th API enablement.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08192" y="3182111"/>
            <a:ext cx="5431536" cy="1005840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08192" y="3182111"/>
            <a:ext cx="91440" cy="1005840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23697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AB00"/>
                </a:solidFill>
              </a:rPr>
              <a:t>Parallel Track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3602735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Continue development with placeholder stubs. All code is ready to switch once APIs are live.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8192" y="4279392"/>
            <a:ext cx="5431536" cy="1005840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08192" y="4279392"/>
            <a:ext cx="91440" cy="1005840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433425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5C9E"/>
                </a:solidFill>
              </a:rPr>
              <a:t>Contingency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4700016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If APIs are delayed beyond June 12th, revise release date and notify all stakeholders within 24 hrs.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08192" y="5376671"/>
            <a:ext cx="5431536" cy="1005840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08192" y="5376671"/>
            <a:ext cx="91440" cy="100584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543153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E3E"/>
                </a:solidFill>
              </a:rPr>
              <a:t>Monitoring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5797295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Daily check-in with Keka team from June 10th. Status updated in project tracker same 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Phase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37947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49808"/>
            <a:ext cx="3794760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80467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F2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804671"/>
            <a:ext cx="3227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Foundation /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31673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3350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335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May 11,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71907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Studied ConnectWise, Keka and AWS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03911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Built POC: initial Customers sync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35915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Identified gaps between ConnectWise and Keka data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679191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Designed and reviewed the Integration 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98648"/>
            <a:ext cx="37947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95351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5C9E"/>
                </a:solidFill>
              </a:rPr>
              <a:t>All observations documented and fed into Phase 1 planning.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749808"/>
            <a:ext cx="37947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749808"/>
            <a:ext cx="3794760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80467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F20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804671"/>
            <a:ext cx="3227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Implementation Phase 1
PSA Synchronization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131673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13350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1335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May 15,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171907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Implemented Customers (Companies) sync CW -&gt; Keka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03911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Implemented Projects sync CW -&gt; Keka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235915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Resolved initial data-model gaps identified in Discovery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2" y="2898648"/>
            <a:ext cx="37947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295351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5C9E"/>
                </a:solidFill>
              </a:rPr>
              <a:t>Some Keka API fields required for release are not yet exposed.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4" y="749808"/>
            <a:ext cx="37947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30184" y="749808"/>
            <a:ext cx="3794760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804671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F20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804671"/>
            <a:ext cx="3227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Implementation Phase 2
Timesheet Synchronization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21624" y="131673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13350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1784" y="13350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June 5,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171907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Implemented full Timesheet sync ConnectWise -&gt; Keka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203911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Hourly incremental sync with duplicate prevention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235915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Audit-trail rejection detection added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2679191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Placeholders added where Keka API is not yet available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0184" y="2898648"/>
            <a:ext cx="37947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295351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5C9E"/>
                </a:solidFill>
              </a:rPr>
              <a:t>Majority of functionality complete. Pending API enablement.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538728"/>
            <a:ext cx="37947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538728"/>
            <a:ext cx="379476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79" y="3593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F20"/>
                </a:solidFill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593592"/>
            <a:ext cx="3227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Fix Dependencies &amp; Bugs
Phase 1 &amp; Phase 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79" y="410565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8EAED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79" y="41239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</a:rPr>
              <a:t>Not Started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40" y="41239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June 18,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79" y="450799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Projects, Timesheets, Companies — final bug fixes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79" y="4828031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Close all API-dependency placeholders once Keka enables fields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79" y="514807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Regression testing across all sync flows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687568"/>
            <a:ext cx="37947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79" y="574243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5C9E"/>
                </a:solidFill>
              </a:rPr>
              <a:t>Blocked until Keka API fields are enabled (deadline: Jun 12).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25112" y="3538728"/>
            <a:ext cx="37947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25112" y="3538728"/>
            <a:ext cx="3794760" cy="47548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6552" y="3593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F20"/>
                </a:solidFill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0600" y="3593592"/>
            <a:ext cx="3227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Negative / Failure Use Cases
Phase 1 Technical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16552" y="410565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6F4EA"/>
          </a:solidFill>
          <a:ln w="63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16552" y="41239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8E3E"/>
                </a:solidFill>
              </a:rPr>
              <a:t>Completed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96712" y="41239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June 1,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6552" y="450799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Error handling for API failures and timeouts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16552" y="4828031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Retry logic and circuit-breaker patterns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6552" y="514807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Partial-failure scenarios for company and project sync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5112" y="5687568"/>
            <a:ext cx="37947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16552" y="574243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5C9E"/>
                </a:solidFill>
              </a:rPr>
              <a:t>Completed through Phase 1. Phase 2 patterns follow same design.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30184" y="3538728"/>
            <a:ext cx="379476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30184" y="3538728"/>
            <a:ext cx="379476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21624" y="3593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F20"/>
                </a:solidFill>
              </a:rPr>
              <a:t>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05672" y="3593592"/>
            <a:ext cx="32278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Release Phase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21624" y="4105656"/>
            <a:ext cx="1188720" cy="292608"/>
          </a:xfrm>
          <a:prstGeom prst="roundRect">
            <a:avLst>
              <a:gd name="adj" fmla="val 4000"/>
            </a:avLst>
          </a:prstGeom>
          <a:solidFill>
            <a:srgbClr val="E8EAED"/>
          </a:solidFill>
          <a:ln w="63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21624" y="41239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</a:rPr>
              <a:t>Not Started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01784" y="412394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June 30,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1624" y="450799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End-to-end integration testing across all flows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21624" y="4828031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QA sign-off and UAT sign-off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21624" y="514807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Production deployment and smoke test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1624" y="5468112"/>
            <a:ext cx="3611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Post-release production support window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30184" y="5687568"/>
            <a:ext cx="3794760" cy="4389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1624" y="574243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5C9E"/>
                </a:solidFill>
              </a:rPr>
              <a:t>Dependent on successful close of all dependency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097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375E"/>
                </a:solidFill>
              </a:rPr>
              <a:t>OculusIT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375E"/>
                </a:solidFill>
              </a:rPr>
              <a:t>What's Next — 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</a:rPr>
              <a:t>Immediate priorities to keep the June 30 release on track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15568"/>
            <a:ext cx="115671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91440" cy="749808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" y="1353312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624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URGENT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3304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75E"/>
                </a:solidFill>
              </a:rPr>
              <a:t>Jun 10–12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188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Keka API Enablement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517904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Confirm with Keka team that required API fields will be enabled by June 12th. Escalate to account manager if no confirmation received by EOD June 11th.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920239"/>
            <a:ext cx="11567160" cy="749808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20239"/>
            <a:ext cx="91440" cy="749808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" y="2157983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16712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13512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75E"/>
                </a:solidFill>
              </a:rPr>
              <a:t>Jun 12–18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19933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Fix Dependencies &amp; Bug 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322575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Once Keka APIs are live, close all placeholder implementations in Phase 1 &amp; Phase 2. Run regression tests across Companies, Projects and Timesheet sync 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2724911"/>
            <a:ext cx="115671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24911"/>
            <a:ext cx="91440" cy="749808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5488" y="2962655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97179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29397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75E"/>
                </a:solidFill>
              </a:rPr>
              <a:t>Jun 12–18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7980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Phase 2 Failure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127247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Implement negative / failure use cases for Timesheet Synchronization (mirroring patterns already done for Phase 1).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3529583"/>
            <a:ext cx="11567160" cy="749808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529583"/>
            <a:ext cx="91440" cy="749808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5488" y="3767327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77647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37444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75E"/>
                </a:solidFill>
              </a:rPr>
              <a:t>Jun 18–25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60273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End-to-End Integration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393192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QA team to execute full E2E test suite covering all sync flows. Track and resolve any defects before UAT sign-off.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4334255"/>
            <a:ext cx="1156716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34255"/>
            <a:ext cx="91440" cy="749808"/>
          </a:xfrm>
          <a:prstGeom prst="rect">
            <a:avLst/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5488" y="4571999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27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5811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45491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75E"/>
                </a:solidFill>
              </a:rPr>
              <a:t>Jun 25–28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4074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UAT 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4736592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Business stakeholders to validate data accuracy in Keka against ConnectWise. Obtain formal UAT sign-off document.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5138927"/>
            <a:ext cx="11567160" cy="749808"/>
          </a:xfrm>
          <a:prstGeom prst="roundRect">
            <a:avLst>
              <a:gd name="adj" fmla="val 4000"/>
            </a:avLst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138927"/>
            <a:ext cx="91440" cy="74980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376671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3858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53538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75E"/>
                </a:solidFill>
              </a:rPr>
              <a:t>Jun 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52120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Production Release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5541264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Deploy to AWS ECS Fargate production environment. Monitor first 3 sync runs. Production support window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F47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19472"/>
            <a:ext cx="1218895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8F7"/>
                </a:solidFill>
              </a:rPr>
              <a:t>We welcome any questions on the plan, risks or timeline.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ConnectWise  Keka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4290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Release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840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June 30,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290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Critical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June 12, 2026  (Keka API deadline)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4290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E8F7"/>
                </a:solidFill>
              </a:rPr>
              <a:t>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840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AMBER — API dependency risk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C99"/>
                </a:solidFill>
              </a:rPr>
              <a:t>OculusIT  |  Project Planning  |  June 10,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